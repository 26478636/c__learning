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2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6D7F31-3AC2-1F2D-3DC3-90F769A09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1130E6-9CA9-09E5-D9F7-5EDA6D339C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9F84E9-2388-B0EE-85FC-30C308157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E8DB-FBA8-4725-98A2-59F78C20E77F}" type="datetimeFigureOut">
              <a:rPr lang="zh-CN" altLang="en-US" smtClean="0"/>
              <a:t>2022/10/26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A051E0-6BE9-5DC0-F844-45B5860C1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D92D4B-018E-D700-EA0F-52D650762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91CFD-6C3F-4837-8CE1-982DBB6B8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339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2FBD4-6EF4-5ACD-E468-AA32E5A2F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755E9F-A7B3-C164-EC91-A8C1CC773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6CE2C1-38E1-3BFE-6801-D0BB1E669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E8DB-FBA8-4725-98A2-59F78C20E77F}" type="datetimeFigureOut">
              <a:rPr lang="zh-CN" altLang="en-US" smtClean="0"/>
              <a:t>2022/10/26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51CAD1-A271-2605-A2AB-784E08C06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B03C52-2D56-94E1-6601-B71307AF2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91CFD-6C3F-4837-8CE1-982DBB6B8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7391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028A25-6E13-114C-CF37-A065B23DC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EB6FA4-8569-7913-A55D-E43212A9F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4379C9-61F3-307A-2667-4747FC47E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E8DB-FBA8-4725-98A2-59F78C20E77F}" type="datetimeFigureOut">
              <a:rPr lang="zh-CN" altLang="en-US" smtClean="0"/>
              <a:t>2022/10/26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EA05B5-D2AE-DE08-313D-3F15C1B00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9F12DF-E883-0F2D-12F1-ECC1FCEAA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91CFD-6C3F-4837-8CE1-982DBB6B8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019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B3A5AA-456B-82BF-4AF7-208B63283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80D288-557D-78AA-6458-4A212C6FDA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CD9023-A9EA-6C8D-9413-27B85B2FE4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CB35E6-1C93-FBF9-51C9-B18FE3367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E8DB-FBA8-4725-98A2-59F78C20E77F}" type="datetimeFigureOut">
              <a:rPr lang="zh-CN" altLang="en-US" smtClean="0"/>
              <a:t>2022/10/26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6686CA-0E43-B1C5-9EDD-0CC84DD90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5DBF06-9FBD-5C65-FBB0-E2D18AB71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91CFD-6C3F-4837-8CE1-982DBB6B8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68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BBFEAF-2150-0039-D852-3E4861C76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B3EF01-AD4E-2103-E3E7-5D1E5560F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938C35-929C-B52A-097B-3465A5DF37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6557614-B945-D470-3D59-901826F296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D9DE006-1222-E5B3-F630-1DBF5FEF34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E63909E-BD29-5443-33EC-DD8F48765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E8DB-FBA8-4725-98A2-59F78C20E77F}" type="datetimeFigureOut">
              <a:rPr lang="zh-CN" altLang="en-US" smtClean="0"/>
              <a:t>2022/10/26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FEA220B-638C-CEEE-20FF-4985068B3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1B91981-CC2D-C00C-E9D1-B50F9C8F4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91CFD-6C3F-4837-8CE1-982DBB6B8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6062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6540E9-A004-F083-7830-300885CAB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C04000C-8D36-389F-E026-31B995BA9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E8DB-FBA8-4725-98A2-59F78C20E77F}" type="datetimeFigureOut">
              <a:rPr lang="zh-CN" altLang="en-US" smtClean="0"/>
              <a:t>2022/10/26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3B1C428-7B2A-0DCA-8699-FEF3E9976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914E3D-5258-3B6F-CA1A-E281C5547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91CFD-6C3F-4837-8CE1-982DBB6B8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910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E96155C-8AB7-4941-F234-A3F21D54E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E8DB-FBA8-4725-98A2-59F78C20E77F}" type="datetimeFigureOut">
              <a:rPr lang="zh-CN" altLang="en-US" smtClean="0"/>
              <a:t>2022/10/26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F4DAA36-43FE-A6E1-ACE1-5837447D3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113DE9-886B-08B1-ED71-4C3273CF0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91CFD-6C3F-4837-8CE1-982DBB6B8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32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C62914-ACEB-9B27-13AD-C856F23D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168121-4A1E-04A1-3921-C99B78ADC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944667-E895-83DF-721F-4E7CBBE1C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67A7BD-5450-9239-A302-2519D3172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E8DB-FBA8-4725-98A2-59F78C20E77F}" type="datetimeFigureOut">
              <a:rPr lang="zh-CN" altLang="en-US" smtClean="0"/>
              <a:t>2022/10/26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BE1A02-8524-2863-9EB8-223CDDE4C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DB349A-5C19-0254-24A9-14A3E7E5E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91CFD-6C3F-4837-8CE1-982DBB6B8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899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3413BB-B47E-9C1C-2D2B-47E3BEF57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41464F5-4340-9C7D-FE46-079B25A023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B0F505-7020-67D1-4186-849825444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4E7081-8EA3-E7CA-A7FA-6590DDC53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E8DB-FBA8-4725-98A2-59F78C20E77F}" type="datetimeFigureOut">
              <a:rPr lang="zh-CN" altLang="en-US" smtClean="0"/>
              <a:t>2022/10/26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DDE724-E4CC-6776-40A9-5B0FCF372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441680-92E1-F6BF-02C1-2590F5BE6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91CFD-6C3F-4837-8CE1-982DBB6B8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612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925BF8-07DA-2E28-0D85-36BA7FF9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4235EBA-D872-AFF1-05AD-8B7F1CA898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CEA65A-A948-9B72-7FD8-5C3D65D72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E8DB-FBA8-4725-98A2-59F78C20E77F}" type="datetimeFigureOut">
              <a:rPr lang="zh-CN" altLang="en-US" smtClean="0"/>
              <a:t>2022/10/26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4B56E8-9470-B18A-451D-86FD8B745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B6932B-A18F-F223-D66B-6EBBB4927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91CFD-6C3F-4837-8CE1-982DBB6B8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161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D40AD3E-FDD9-7520-0036-18252959ED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FCF60EC-69CC-240E-6BDC-05FE8E350F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F087D1-24AF-26E1-774A-D3C1F4891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E8DB-FBA8-4725-98A2-59F78C20E77F}" type="datetimeFigureOut">
              <a:rPr lang="zh-CN" altLang="en-US" smtClean="0"/>
              <a:t>2022/10/26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AF889E-42C5-D833-101A-A539853D3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C1AA3D-D2AE-302F-0A74-CA9E4CB3A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91CFD-6C3F-4837-8CE1-982DBB6B8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922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748316B-24BD-7DE3-8F92-16513B225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EFAA00-F9A2-237F-4E26-89027B39B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526253-9F6C-1D82-52EE-D2AE6D254C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4E8DB-FBA8-4725-98A2-59F78C20E77F}" type="datetimeFigureOut">
              <a:rPr lang="zh-CN" altLang="en-US" smtClean="0"/>
              <a:t>2022/10/26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5C7DDA-C452-11EC-28DB-EF3B99176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8DB100-E642-3EB1-4ECA-F2F997FD94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91CFD-6C3F-4837-8CE1-982DBB6B8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467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0A5E0B8-600B-9EAF-284F-1E197A5C2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045" y="1325151"/>
            <a:ext cx="8071909" cy="420769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6077932-E9EE-5D8C-65E5-44C5BA0357BA}"/>
              </a:ext>
            </a:extLst>
          </p:cNvPr>
          <p:cNvSpPr/>
          <p:nvPr/>
        </p:nvSpPr>
        <p:spPr>
          <a:xfrm>
            <a:off x="0" y="2394192"/>
            <a:ext cx="5577142" cy="226157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dirty="0"/>
              <a:t>C</a:t>
            </a:r>
            <a:r>
              <a:rPr lang="zh-CN" altLang="en-US" dirty="0"/>
              <a:t>语言为编程语言</a:t>
            </a:r>
            <a:r>
              <a:rPr lang="en-US" altLang="zh-CN" dirty="0"/>
              <a:t>(</a:t>
            </a:r>
            <a:r>
              <a:rPr lang="zh-CN" altLang="en-US" dirty="0"/>
              <a:t>高级编程语言</a:t>
            </a:r>
            <a:r>
              <a:rPr lang="en-US" altLang="zh-CN" dirty="0"/>
              <a:t>)</a:t>
            </a:r>
            <a:r>
              <a:rPr lang="zh-CN" altLang="en-US" dirty="0"/>
              <a:t>；</a:t>
            </a:r>
            <a:endParaRPr lang="en-US" altLang="zh-C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B050"/>
                </a:solidFill>
                <a:highlight>
                  <a:srgbClr val="FFFF00"/>
                </a:highlight>
              </a:rPr>
              <a:t>汇编语言</a:t>
            </a:r>
            <a:r>
              <a:rPr lang="zh-CN" altLang="en-US" dirty="0"/>
              <a:t>与</a:t>
            </a:r>
            <a:r>
              <a:rPr lang="en-US" altLang="zh-CN" dirty="0">
                <a:solidFill>
                  <a:srgbClr val="00B050"/>
                </a:solidFill>
                <a:highlight>
                  <a:srgbClr val="FFFF00"/>
                </a:highlight>
              </a:rPr>
              <a:t>C</a:t>
            </a:r>
            <a:r>
              <a:rPr lang="zh-CN" altLang="en-US" dirty="0">
                <a:solidFill>
                  <a:srgbClr val="00B050"/>
                </a:solidFill>
                <a:highlight>
                  <a:srgbClr val="FFFF00"/>
                </a:highlight>
              </a:rPr>
              <a:t>语言</a:t>
            </a:r>
            <a:r>
              <a:rPr lang="zh-CN" altLang="en-US" dirty="0"/>
              <a:t>，</a:t>
            </a:r>
            <a:r>
              <a:rPr lang="en-US" altLang="zh-CN" dirty="0"/>
              <a:t> </a:t>
            </a:r>
            <a:r>
              <a:rPr lang="en-US" altLang="zh-CN" u="sng" dirty="0">
                <a:solidFill>
                  <a:srgbClr val="00B050"/>
                </a:solidFill>
                <a:highlight>
                  <a:srgbClr val="FFFF00"/>
                </a:highlight>
              </a:rPr>
              <a:t>C</a:t>
            </a:r>
            <a:r>
              <a:rPr lang="zh-CN" altLang="en-US" u="sng" dirty="0">
                <a:solidFill>
                  <a:srgbClr val="00B050"/>
                </a:solidFill>
                <a:highlight>
                  <a:srgbClr val="FFFF00"/>
                </a:highlight>
              </a:rPr>
              <a:t>语言</a:t>
            </a:r>
            <a:r>
              <a:rPr lang="zh-CN" altLang="en-US" dirty="0"/>
              <a:t>的代码更简单，集成化程度更高</a:t>
            </a:r>
            <a:r>
              <a:rPr lang="en-US" altLang="zh-CN" dirty="0"/>
              <a:t>(</a:t>
            </a:r>
            <a:r>
              <a:rPr lang="zh-CN" altLang="en-US" dirty="0"/>
              <a:t>封装程度更高</a:t>
            </a:r>
            <a:r>
              <a:rPr lang="en-US" altLang="zh-CN" dirty="0"/>
              <a:t>)</a:t>
            </a:r>
            <a:r>
              <a:rPr lang="zh-CN" altLang="en-US" dirty="0"/>
              <a:t>，开发效率更高，汇编语言</a:t>
            </a:r>
            <a:r>
              <a:rPr lang="en-US" altLang="zh-CN" dirty="0"/>
              <a:t>(</a:t>
            </a:r>
            <a:r>
              <a:rPr lang="zh-CN" altLang="en-US" dirty="0"/>
              <a:t>可以说，直接作用于计算机的底层硬件的</a:t>
            </a:r>
            <a:r>
              <a:rPr lang="en-US" altLang="zh-CN" dirty="0"/>
              <a:t>)</a:t>
            </a:r>
            <a:r>
              <a:rPr lang="zh-CN" altLang="en-US" dirty="0"/>
              <a:t>可移植性低，</a:t>
            </a:r>
            <a:r>
              <a:rPr lang="en-US" altLang="zh-CN" dirty="0"/>
              <a:t>C</a:t>
            </a:r>
            <a:r>
              <a:rPr lang="zh-CN" altLang="en-US" dirty="0"/>
              <a:t>语言有相当高的可移植性；</a:t>
            </a:r>
            <a:endParaRPr lang="en-US" altLang="zh-C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dirty="0"/>
              <a:t>C</a:t>
            </a:r>
            <a:r>
              <a:rPr lang="zh-CN" altLang="en-US" dirty="0"/>
              <a:t>语言的缺点，运行用时时间长；</a:t>
            </a:r>
            <a:endParaRPr lang="en-US" altLang="zh-C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en-US" dirty="0"/>
              <a:t>汇编语言是直接和计算机进行沟通，</a:t>
            </a:r>
            <a:r>
              <a:rPr lang="en-US" altLang="zh-CN" dirty="0"/>
              <a:t> C</a:t>
            </a:r>
            <a:r>
              <a:rPr lang="zh-CN" altLang="en-US" dirty="0"/>
              <a:t>语言利用</a:t>
            </a:r>
            <a:r>
              <a:rPr lang="en-US" altLang="zh-CN" dirty="0"/>
              <a:t>(</a:t>
            </a:r>
            <a:r>
              <a:rPr lang="zh-CN" altLang="en-US" dirty="0"/>
              <a:t>翻译</a:t>
            </a:r>
            <a:r>
              <a:rPr lang="en-US" altLang="zh-CN" dirty="0"/>
              <a:t>)</a:t>
            </a:r>
            <a:r>
              <a:rPr lang="zh-CN" altLang="en-US" dirty="0"/>
              <a:t>和计算机进行沟通；</a:t>
            </a:r>
            <a:endParaRPr lang="en-US" altLang="zh-CN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0BCEB5-FB76-E1BE-D3BC-718C7E72F08B}"/>
              </a:ext>
            </a:extLst>
          </p:cNvPr>
          <p:cNvSpPr/>
          <p:nvPr/>
        </p:nvSpPr>
        <p:spPr>
          <a:xfrm>
            <a:off x="7581346" y="2394192"/>
            <a:ext cx="4610653" cy="1528654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en-US" dirty="0"/>
              <a:t>编程范式</a:t>
            </a:r>
            <a:r>
              <a:rPr lang="en-US" altLang="zh-CN" dirty="0"/>
              <a:t>: C</a:t>
            </a:r>
            <a:r>
              <a:rPr lang="zh-CN" altLang="en-US" dirty="0"/>
              <a:t>语言只支持一种编程范式，面向过程的编程范式；</a:t>
            </a:r>
            <a:r>
              <a:rPr lang="en-US" altLang="zh-CN" dirty="0"/>
              <a:t> C++</a:t>
            </a:r>
            <a:r>
              <a:rPr lang="zh-CN" altLang="en-US" dirty="0"/>
              <a:t>支持四种编程范式，面向过程，面向对象，泛型编程，函数式编程；</a:t>
            </a:r>
          </a:p>
        </p:txBody>
      </p:sp>
    </p:spTree>
    <p:extLst>
      <p:ext uri="{BB962C8B-B14F-4D97-AF65-F5344CB8AC3E}">
        <p14:creationId xmlns:p14="http://schemas.microsoft.com/office/powerpoint/2010/main" val="3810287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3CEE97F-188C-740C-2697-21AED7E6B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83" y="1063052"/>
            <a:ext cx="6849431" cy="3419952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939C024-0556-4835-C8BB-1293FBFBA22E}"/>
              </a:ext>
            </a:extLst>
          </p:cNvPr>
          <p:cNvSpPr/>
          <p:nvPr/>
        </p:nvSpPr>
        <p:spPr>
          <a:xfrm>
            <a:off x="4098958" y="2213194"/>
            <a:ext cx="6353821" cy="5842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dirty="0"/>
              <a:t>std--</a:t>
            </a:r>
            <a:r>
              <a:rPr lang="zh-CN" altLang="en-US" dirty="0"/>
              <a:t>标准的</a:t>
            </a:r>
            <a:r>
              <a:rPr lang="en-US" altLang="zh-CN" dirty="0"/>
              <a:t>; </a:t>
            </a:r>
            <a:r>
              <a:rPr lang="en-US" altLang="zh-CN" dirty="0" err="1"/>
              <a:t>i</a:t>
            </a:r>
            <a:r>
              <a:rPr lang="en-US" altLang="zh-CN" dirty="0"/>
              <a:t>--input; o--output; </a:t>
            </a:r>
            <a:r>
              <a:rPr lang="zh-CN" altLang="en-US" dirty="0"/>
              <a:t>标准的输入输出头文件；</a:t>
            </a:r>
            <a:endParaRPr lang="en-US" altLang="zh-C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dirty="0" err="1"/>
              <a:t>printf</a:t>
            </a:r>
            <a:r>
              <a:rPr lang="zh-CN" altLang="en-US" dirty="0"/>
              <a:t>函数</a:t>
            </a:r>
            <a:r>
              <a:rPr lang="en-US" altLang="zh-CN" dirty="0"/>
              <a:t>; int</a:t>
            </a:r>
            <a:r>
              <a:rPr lang="zh-CN" altLang="en-US" dirty="0"/>
              <a:t>为</a:t>
            </a:r>
            <a:r>
              <a:rPr lang="en-US" altLang="zh-CN" dirty="0" err="1"/>
              <a:t>printf</a:t>
            </a:r>
            <a:r>
              <a:rPr lang="zh-CN" altLang="en-US" dirty="0"/>
              <a:t>函数输出值的类型；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CF54B3-2217-7AF4-32FB-6EA862F90CB2}"/>
              </a:ext>
            </a:extLst>
          </p:cNvPr>
          <p:cNvSpPr/>
          <p:nvPr/>
        </p:nvSpPr>
        <p:spPr>
          <a:xfrm>
            <a:off x="3469136" y="4146213"/>
            <a:ext cx="446730" cy="279206"/>
          </a:xfrm>
          <a:prstGeom prst="rect">
            <a:avLst/>
          </a:prstGeom>
          <a:noFill/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BB404C6-2F04-ECFB-3356-D68A50403556}"/>
              </a:ext>
            </a:extLst>
          </p:cNvPr>
          <p:cNvSpPr/>
          <p:nvPr/>
        </p:nvSpPr>
        <p:spPr>
          <a:xfrm>
            <a:off x="3985669" y="4483005"/>
            <a:ext cx="4209032" cy="654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dirty="0" err="1"/>
              <a:t>printf</a:t>
            </a:r>
            <a:r>
              <a:rPr lang="en-US" altLang="zh-CN" dirty="0"/>
              <a:t>(“%d”, a); </a:t>
            </a:r>
            <a:r>
              <a:rPr lang="zh-CN" altLang="en-US" dirty="0"/>
              <a:t>字符串，所以是双引号；</a:t>
            </a:r>
            <a:endParaRPr lang="en-US" altLang="zh-C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dirty="0"/>
              <a:t>…    </a:t>
            </a:r>
            <a:r>
              <a:rPr lang="zh-CN" altLang="en-US" dirty="0"/>
              <a:t>变参列表；</a:t>
            </a:r>
            <a:endParaRPr lang="en-US" altLang="zh-CN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08C22426-79E5-C59E-4CAF-1DD24EDF3244}"/>
              </a:ext>
            </a:extLst>
          </p:cNvPr>
          <p:cNvCxnSpPr/>
          <p:nvPr/>
        </p:nvCxnSpPr>
        <p:spPr>
          <a:xfrm>
            <a:off x="5458480" y="3001467"/>
            <a:ext cx="0" cy="148153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81B2AEE-3C41-525C-8A50-79807A1579DC}"/>
              </a:ext>
            </a:extLst>
          </p:cNvPr>
          <p:cNvCxnSpPr/>
          <p:nvPr/>
        </p:nvCxnSpPr>
        <p:spPr>
          <a:xfrm>
            <a:off x="4376556" y="3064288"/>
            <a:ext cx="252681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714D7C00-2A8F-ACAE-0C5F-BDA57031C6A1}"/>
              </a:ext>
            </a:extLst>
          </p:cNvPr>
          <p:cNvSpPr/>
          <p:nvPr/>
        </p:nvSpPr>
        <p:spPr>
          <a:xfrm>
            <a:off x="5749107" y="3064288"/>
            <a:ext cx="1835780" cy="2373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本质就是字符串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A1CADC4D-15A7-C22C-7252-79E7F2599B4F}"/>
              </a:ext>
            </a:extLst>
          </p:cNvPr>
          <p:cNvCxnSpPr>
            <a:cxnSpLocks/>
          </p:cNvCxnSpPr>
          <p:nvPr/>
        </p:nvCxnSpPr>
        <p:spPr>
          <a:xfrm flipH="1">
            <a:off x="9793155" y="1228508"/>
            <a:ext cx="1151725" cy="98468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E3986E91-FF2B-92E5-2440-107990240CDE}"/>
              </a:ext>
            </a:extLst>
          </p:cNvPr>
          <p:cNvSpPr/>
          <p:nvPr/>
        </p:nvSpPr>
        <p:spPr>
          <a:xfrm>
            <a:off x="10533050" y="1063052"/>
            <a:ext cx="1054003" cy="2631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因为是</a:t>
            </a:r>
            <a:r>
              <a:rPr lang="en-US" altLang="zh-CN" dirty="0"/>
              <a:t>.h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4A0141A-FFBD-DDEB-075E-B1B765566572}"/>
              </a:ext>
            </a:extLst>
          </p:cNvPr>
          <p:cNvSpPr/>
          <p:nvPr/>
        </p:nvSpPr>
        <p:spPr>
          <a:xfrm>
            <a:off x="1026083" y="4162953"/>
            <a:ext cx="1130784" cy="2624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重要重要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BB68E6D-6781-1D55-6898-6AF27593E3C0}"/>
              </a:ext>
            </a:extLst>
          </p:cNvPr>
          <p:cNvSpPr/>
          <p:nvPr/>
        </p:nvSpPr>
        <p:spPr>
          <a:xfrm>
            <a:off x="3420274" y="4125790"/>
            <a:ext cx="544453" cy="336791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10CC041-CBCC-934A-A845-4777CE288A45}"/>
              </a:ext>
            </a:extLst>
          </p:cNvPr>
          <p:cNvSpPr/>
          <p:nvPr/>
        </p:nvSpPr>
        <p:spPr>
          <a:xfrm>
            <a:off x="5749107" y="4483004"/>
            <a:ext cx="840152" cy="368203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475597-8721-C992-EE94-DE6D339575E9}"/>
              </a:ext>
            </a:extLst>
          </p:cNvPr>
          <p:cNvSpPr/>
          <p:nvPr/>
        </p:nvSpPr>
        <p:spPr>
          <a:xfrm>
            <a:off x="3469136" y="1116825"/>
            <a:ext cx="2729240" cy="328068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B0F0"/>
                </a:solidFill>
              </a:rPr>
              <a:t>返回值是</a:t>
            </a:r>
            <a:r>
              <a:rPr lang="zh-CN" altLang="en-US" dirty="0">
                <a:solidFill>
                  <a:srgbClr val="00B0F0"/>
                </a:solidFill>
                <a:highlight>
                  <a:srgbClr val="FFFF00"/>
                </a:highlight>
              </a:rPr>
              <a:t>输出字符的数量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8EBBBD7-C5ED-44B0-F207-31ABFD94E083}"/>
              </a:ext>
            </a:extLst>
          </p:cNvPr>
          <p:cNvSpPr/>
          <p:nvPr/>
        </p:nvSpPr>
        <p:spPr>
          <a:xfrm>
            <a:off x="6732993" y="4483004"/>
            <a:ext cx="1357003" cy="368203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993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3275ABF-6865-8C56-ADC9-98ADA3A7F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662" y="816678"/>
            <a:ext cx="6620799" cy="3419952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D86E843-E394-58CE-0984-4DA77E5F226E}"/>
              </a:ext>
            </a:extLst>
          </p:cNvPr>
          <p:cNvSpPr/>
          <p:nvPr/>
        </p:nvSpPr>
        <p:spPr>
          <a:xfrm>
            <a:off x="1877663" y="4236630"/>
            <a:ext cx="3559878" cy="15705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dirty="0" err="1"/>
              <a:t>scanf</a:t>
            </a:r>
            <a:r>
              <a:rPr lang="zh-CN" altLang="en-US" dirty="0"/>
              <a:t>返回值为</a:t>
            </a:r>
            <a:r>
              <a:rPr lang="en-US" altLang="zh-CN" dirty="0"/>
              <a:t>-1</a:t>
            </a:r>
            <a:r>
              <a:rPr lang="zh-CN" altLang="en-US" dirty="0"/>
              <a:t>时，循环读入；</a:t>
            </a:r>
            <a:endParaRPr lang="en-US" altLang="zh-C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dirty="0"/>
              <a:t>!=EOF </a:t>
            </a:r>
            <a:r>
              <a:rPr lang="zh-CN" altLang="en-US" dirty="0"/>
              <a:t>等价于 </a:t>
            </a:r>
            <a:r>
              <a:rPr lang="en-US" altLang="zh-CN" dirty="0"/>
              <a:t>!=-1;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dirty="0"/>
              <a:t>EOF</a:t>
            </a:r>
            <a:r>
              <a:rPr lang="zh-CN" altLang="en-US" dirty="0"/>
              <a:t>代表文件的末尾；</a:t>
            </a:r>
            <a:endParaRPr lang="en-US" altLang="zh-C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F51CC3D-C754-5793-21CA-46C89F831382}"/>
              </a:ext>
            </a:extLst>
          </p:cNvPr>
          <p:cNvSpPr/>
          <p:nvPr/>
        </p:nvSpPr>
        <p:spPr>
          <a:xfrm>
            <a:off x="2826963" y="3873985"/>
            <a:ext cx="2966565" cy="3071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C380A14-71F3-02EA-D7DD-67495E9D7D78}"/>
              </a:ext>
            </a:extLst>
          </p:cNvPr>
          <p:cNvSpPr/>
          <p:nvPr/>
        </p:nvSpPr>
        <p:spPr>
          <a:xfrm>
            <a:off x="5793528" y="3655531"/>
            <a:ext cx="2824635" cy="590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dirty="0"/>
              <a:t>和</a:t>
            </a:r>
            <a:r>
              <a:rPr lang="en-US" altLang="zh-CN" dirty="0" err="1"/>
              <a:t>printf</a:t>
            </a:r>
            <a:r>
              <a:rPr lang="zh-CN" altLang="en-US" dirty="0"/>
              <a:t>函数的返回值含义差不多；可以为正整数和</a:t>
            </a:r>
            <a:r>
              <a:rPr lang="en-US" altLang="zh-CN" dirty="0"/>
              <a:t>0</a:t>
            </a:r>
            <a:r>
              <a:rPr lang="zh-CN" altLang="en-US" dirty="0"/>
              <a:t>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E427C3-157B-CAA5-E667-829EEAC0D0F2}"/>
              </a:ext>
            </a:extLst>
          </p:cNvPr>
          <p:cNvSpPr/>
          <p:nvPr/>
        </p:nvSpPr>
        <p:spPr>
          <a:xfrm>
            <a:off x="8815935" y="1088904"/>
            <a:ext cx="1926522" cy="6212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dirty="0"/>
              <a:t>%d</a:t>
            </a:r>
            <a:r>
              <a:rPr lang="zh-CN" altLang="en-US" dirty="0"/>
              <a:t>一个字符串；</a:t>
            </a:r>
            <a:endParaRPr lang="en-US" altLang="zh-C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dirty="0"/>
              <a:t>%s</a:t>
            </a:r>
            <a:r>
              <a:rPr lang="zh-CN" altLang="en-US" dirty="0"/>
              <a:t>一行字符串；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75D6CC6-1292-9B01-8863-AA56B811309F}"/>
              </a:ext>
            </a:extLst>
          </p:cNvPr>
          <p:cNvSpPr/>
          <p:nvPr/>
        </p:nvSpPr>
        <p:spPr>
          <a:xfrm>
            <a:off x="4195072" y="924870"/>
            <a:ext cx="2729240" cy="328068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B0F0"/>
                </a:solidFill>
              </a:rPr>
              <a:t>返回值是</a:t>
            </a:r>
            <a:r>
              <a:rPr lang="zh-CN" altLang="en-US" dirty="0">
                <a:solidFill>
                  <a:srgbClr val="00B0F0"/>
                </a:solidFill>
                <a:highlight>
                  <a:srgbClr val="FFFF00"/>
                </a:highlight>
              </a:rPr>
              <a:t>读入参数的个数</a:t>
            </a:r>
          </a:p>
        </p:txBody>
      </p:sp>
    </p:spTree>
    <p:extLst>
      <p:ext uri="{BB962C8B-B14F-4D97-AF65-F5344CB8AC3E}">
        <p14:creationId xmlns:p14="http://schemas.microsoft.com/office/powerpoint/2010/main" val="584916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78B3416-4345-9316-0D8D-DD07C9A3C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215"/>
            <a:ext cx="7475744" cy="2124049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AA1E277-D7EC-D661-6322-A20DA7F14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11833"/>
            <a:ext cx="7016565" cy="263433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3BF8808-1232-6286-5F76-CF856EF728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2902" y="4153191"/>
            <a:ext cx="7189098" cy="270480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EACF1BE-93A8-4553-199B-9A07355D2AF5}"/>
              </a:ext>
            </a:extLst>
          </p:cNvPr>
          <p:cNvSpPr/>
          <p:nvPr/>
        </p:nvSpPr>
        <p:spPr>
          <a:xfrm>
            <a:off x="3322551" y="2111833"/>
            <a:ext cx="2303451" cy="8337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dirty="0"/>
              <a:t>\n</a:t>
            </a:r>
            <a:r>
              <a:rPr lang="zh-CN" altLang="en-US" dirty="0"/>
              <a:t>换行；</a:t>
            </a:r>
            <a:r>
              <a:rPr lang="en-US" altLang="zh-CN" dirty="0"/>
              <a:t>\t</a:t>
            </a:r>
            <a:r>
              <a:rPr lang="zh-CN" altLang="en-US" dirty="0"/>
              <a:t>制表符</a:t>
            </a:r>
            <a:endParaRPr lang="en-US" altLang="zh-C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dirty="0"/>
              <a:t>dd</a:t>
            </a:r>
            <a:r>
              <a:rPr lang="zh-CN" altLang="en-US" dirty="0"/>
              <a:t>快速删除整行；</a:t>
            </a:r>
            <a:endParaRPr lang="en-US" altLang="zh-C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dirty="0"/>
              <a:t>ZZ</a:t>
            </a:r>
            <a:r>
              <a:rPr lang="zh-CN" altLang="en-US" dirty="0"/>
              <a:t>保存并推出；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A5B7CB4-A817-4C98-BCD4-608E13F01F6E}"/>
              </a:ext>
            </a:extLst>
          </p:cNvPr>
          <p:cNvSpPr/>
          <p:nvPr/>
        </p:nvSpPr>
        <p:spPr>
          <a:xfrm>
            <a:off x="7475744" y="4984165"/>
            <a:ext cx="2540775" cy="3137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相当于访问文件的末尾；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13A108B-0A50-472F-E692-ED34A1B73E56}"/>
              </a:ext>
            </a:extLst>
          </p:cNvPr>
          <p:cNvSpPr/>
          <p:nvPr/>
        </p:nvSpPr>
        <p:spPr>
          <a:xfrm>
            <a:off x="4404475" y="3553234"/>
            <a:ext cx="3629681" cy="2233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printf</a:t>
            </a:r>
            <a:r>
              <a:rPr lang="en-US" altLang="zh-CN" dirty="0"/>
              <a:t>()</a:t>
            </a:r>
            <a:r>
              <a:rPr lang="zh-CN" altLang="en-US" dirty="0"/>
              <a:t>函数的返回值是字符的数量；</a:t>
            </a:r>
          </a:p>
        </p:txBody>
      </p:sp>
    </p:spTree>
    <p:extLst>
      <p:ext uri="{BB962C8B-B14F-4D97-AF65-F5344CB8AC3E}">
        <p14:creationId xmlns:p14="http://schemas.microsoft.com/office/powerpoint/2010/main" val="1616264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15B334A-96D7-1B3F-7491-594CB7504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8362223" cy="2084656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164E551-25FD-B030-3CB1-F17734157547}"/>
              </a:ext>
            </a:extLst>
          </p:cNvPr>
          <p:cNvSpPr/>
          <p:nvPr/>
        </p:nvSpPr>
        <p:spPr>
          <a:xfrm>
            <a:off x="5570162" y="1333209"/>
            <a:ext cx="1717117" cy="3350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F30A281-1DAE-0931-6F5D-5C8CEA68D3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276" t="8782" r="21647" b="4480"/>
          <a:stretch/>
        </p:blipFill>
        <p:spPr>
          <a:xfrm>
            <a:off x="753857" y="2084656"/>
            <a:ext cx="4195072" cy="305730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3E6F0C0-27BB-1B5B-69F0-79D5C77F2CAA}"/>
              </a:ext>
            </a:extLst>
          </p:cNvPr>
          <p:cNvSpPr/>
          <p:nvPr/>
        </p:nvSpPr>
        <p:spPr>
          <a:xfrm>
            <a:off x="0" y="5141964"/>
            <a:ext cx="5297936" cy="2257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dirty="0"/>
              <a:t>正则化列表，抵消掉了空格后面，输入不了的问题；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7728CC7-7007-B936-8291-87ACAB1C1D4F}"/>
              </a:ext>
            </a:extLst>
          </p:cNvPr>
          <p:cNvCxnSpPr>
            <a:cxnSpLocks/>
          </p:cNvCxnSpPr>
          <p:nvPr/>
        </p:nvCxnSpPr>
        <p:spPr>
          <a:xfrm flipV="1">
            <a:off x="698015" y="3970980"/>
            <a:ext cx="858558" cy="1170984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1590A796-F72C-6F90-31C8-0AF787A450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8484" y="2084656"/>
            <a:ext cx="3947670" cy="2303929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7C3B1C1B-DAB2-CD66-A747-7315F66ED988}"/>
              </a:ext>
            </a:extLst>
          </p:cNvPr>
          <p:cNvSpPr/>
          <p:nvPr/>
        </p:nvSpPr>
        <p:spPr>
          <a:xfrm>
            <a:off x="9633018" y="2765220"/>
            <a:ext cx="2366271" cy="2303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dirty="0"/>
              <a:t>将数组元素，规范到</a:t>
            </a:r>
            <a:r>
              <a:rPr lang="en-US" altLang="zh-CN" dirty="0"/>
              <a:t>0</a:t>
            </a:r>
            <a:r>
              <a:rPr lang="zh-CN" altLang="en-US" dirty="0"/>
              <a:t>；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9E316A-370D-C365-6959-9CBF85BE818A}"/>
              </a:ext>
            </a:extLst>
          </p:cNvPr>
          <p:cNvSpPr/>
          <p:nvPr/>
        </p:nvSpPr>
        <p:spPr>
          <a:xfrm>
            <a:off x="7573466" y="3618132"/>
            <a:ext cx="2729240" cy="165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后面的和上一个步骤一样；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18B82C82-39FC-04F3-5D77-22163341BC1C}"/>
              </a:ext>
            </a:extLst>
          </p:cNvPr>
          <p:cNvCxnSpPr/>
          <p:nvPr/>
        </p:nvCxnSpPr>
        <p:spPr>
          <a:xfrm flipV="1">
            <a:off x="6470602" y="3364434"/>
            <a:ext cx="3336513" cy="18497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2342A9AD-BDB0-D70A-004D-55084FEBEDBE}"/>
              </a:ext>
            </a:extLst>
          </p:cNvPr>
          <p:cNvSpPr/>
          <p:nvPr/>
        </p:nvSpPr>
        <p:spPr>
          <a:xfrm>
            <a:off x="5926150" y="5141964"/>
            <a:ext cx="3706868" cy="8255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en-US" dirty="0"/>
              <a:t>这里不需要，再取地址了，因为数组名称，指向的就是第一个元素的地址；</a:t>
            </a:r>
          </a:p>
        </p:txBody>
      </p:sp>
    </p:spTree>
    <p:extLst>
      <p:ext uri="{BB962C8B-B14F-4D97-AF65-F5344CB8AC3E}">
        <p14:creationId xmlns:p14="http://schemas.microsoft.com/office/powerpoint/2010/main" val="3995833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23E0702-3CF3-C3AE-7E43-4EDD588B0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598320"/>
            <a:ext cx="7531585" cy="3001414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2E07817-92FB-0D86-1B1D-F342AC53FF51}"/>
              </a:ext>
            </a:extLst>
          </p:cNvPr>
          <p:cNvSpPr/>
          <p:nvPr/>
        </p:nvSpPr>
        <p:spPr>
          <a:xfrm>
            <a:off x="2652458" y="5194850"/>
            <a:ext cx="3734381" cy="2268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dirty="0"/>
              <a:t>强制读入一个字符这里他就不读‘</a:t>
            </a:r>
            <a:r>
              <a:rPr lang="en-US" altLang="zh-CN" dirty="0"/>
              <a:t>\n</a:t>
            </a:r>
            <a:r>
              <a:rPr lang="zh-CN" altLang="en-US" dirty="0"/>
              <a:t>’；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231532C-6B59-607F-B11B-ECAE6C589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85685"/>
            <a:ext cx="8794992" cy="3512635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7FEFEC6C-1227-CBA4-F663-20CBDEDED000}"/>
              </a:ext>
            </a:extLst>
          </p:cNvPr>
          <p:cNvSpPr/>
          <p:nvPr/>
        </p:nvSpPr>
        <p:spPr>
          <a:xfrm>
            <a:off x="0" y="349006"/>
            <a:ext cx="3797203" cy="13332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A2A9D04-F21C-FB00-F450-E3579EDB3BA8}"/>
              </a:ext>
            </a:extLst>
          </p:cNvPr>
          <p:cNvSpPr/>
          <p:nvPr/>
        </p:nvSpPr>
        <p:spPr>
          <a:xfrm>
            <a:off x="373440" y="1298282"/>
            <a:ext cx="3392353" cy="279206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dirty="0" err="1">
                <a:solidFill>
                  <a:schemeClr val="bg1"/>
                </a:solidFill>
              </a:rPr>
              <a:t>scanf</a:t>
            </a:r>
            <a:r>
              <a:rPr lang="en-US" altLang="zh-CN" dirty="0">
                <a:solidFill>
                  <a:schemeClr val="bg1"/>
                </a:solidFill>
              </a:rPr>
              <a:t>()</a:t>
            </a:r>
            <a:r>
              <a:rPr lang="zh-CN" altLang="en-US" dirty="0">
                <a:solidFill>
                  <a:schemeClr val="bg1"/>
                </a:solidFill>
              </a:rPr>
              <a:t>返回值是读入参数的个数；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757A96D-F50A-1458-754A-11DF565A3F7C}"/>
              </a:ext>
            </a:extLst>
          </p:cNvPr>
          <p:cNvSpPr/>
          <p:nvPr/>
        </p:nvSpPr>
        <p:spPr>
          <a:xfrm>
            <a:off x="373439" y="991206"/>
            <a:ext cx="2509364" cy="307076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char</a:t>
            </a:r>
            <a:r>
              <a:rPr lang="zh-CN" altLang="en-US" dirty="0"/>
              <a:t>定义的是字符数组；</a:t>
            </a:r>
          </a:p>
        </p:txBody>
      </p:sp>
    </p:spTree>
    <p:extLst>
      <p:ext uri="{BB962C8B-B14F-4D97-AF65-F5344CB8AC3E}">
        <p14:creationId xmlns:p14="http://schemas.microsoft.com/office/powerpoint/2010/main" val="3000513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</TotalTime>
  <Words>370</Words>
  <Application>Microsoft Office PowerPoint</Application>
  <PresentationFormat>宽屏</PresentationFormat>
  <Paragraphs>32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敏</dc:creator>
  <cp:lastModifiedBy>王 敏</cp:lastModifiedBy>
  <cp:revision>42</cp:revision>
  <dcterms:created xsi:type="dcterms:W3CDTF">2022-10-05T03:08:00Z</dcterms:created>
  <dcterms:modified xsi:type="dcterms:W3CDTF">2022-10-26T13:52:16Z</dcterms:modified>
</cp:coreProperties>
</file>